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928AA-3823-4F26-8A81-97664BACFEF5}" v="25" dt="2026-06-11T18:22:09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Mathpati" userId="3d35274bb1026449" providerId="LiveId" clId="{11A847AF-112C-4EE3-8712-4F7503AF8252}"/>
    <pc:docChg chg="modSld">
      <pc:chgData name="Deepika Mathpati" userId="3d35274bb1026449" providerId="LiveId" clId="{11A847AF-112C-4EE3-8712-4F7503AF8252}" dt="2026-06-11T18:22:09.128" v="39"/>
      <pc:docMkLst>
        <pc:docMk/>
      </pc:docMkLst>
      <pc:sldChg chg="modSp mod modTransition">
        <pc:chgData name="Deepika Mathpati" userId="3d35274bb1026449" providerId="LiveId" clId="{11A847AF-112C-4EE3-8712-4F7503AF8252}" dt="2026-06-11T18:20:09.849" v="30"/>
        <pc:sldMkLst>
          <pc:docMk/>
          <pc:sldMk cId="822922438" sldId="256"/>
        </pc:sldMkLst>
        <pc:spChg chg="mod">
          <ac:chgData name="Deepika Mathpati" userId="3d35274bb1026449" providerId="LiveId" clId="{11A847AF-112C-4EE3-8712-4F7503AF8252}" dt="2026-06-11T18:16:44.092" v="8" actId="20577"/>
          <ac:spMkLst>
            <pc:docMk/>
            <pc:sldMk cId="822922438" sldId="256"/>
            <ac:spMk id="3" creationId="{F16D2FEB-D90D-463B-9157-0002D84FD3C3}"/>
          </ac:spMkLst>
        </pc:spChg>
      </pc:sldChg>
      <pc:sldChg chg="modSp mod modTransition">
        <pc:chgData name="Deepika Mathpati" userId="3d35274bb1026449" providerId="LiveId" clId="{11A847AF-112C-4EE3-8712-4F7503AF8252}" dt="2026-06-11T18:20:47.351" v="32"/>
        <pc:sldMkLst>
          <pc:docMk/>
          <pc:sldMk cId="1562521810" sldId="257"/>
        </pc:sldMkLst>
        <pc:spChg chg="mod">
          <ac:chgData name="Deepika Mathpati" userId="3d35274bb1026449" providerId="LiveId" clId="{11A847AF-112C-4EE3-8712-4F7503AF8252}" dt="2026-06-11T18:17:17.104" v="9" actId="1076"/>
          <ac:spMkLst>
            <pc:docMk/>
            <pc:sldMk cId="1562521810" sldId="257"/>
            <ac:spMk id="2" creationId="{44504C7A-199D-41F0-E875-161A7F4672F2}"/>
          </ac:spMkLst>
        </pc:spChg>
        <pc:spChg chg="mod">
          <ac:chgData name="Deepika Mathpati" userId="3d35274bb1026449" providerId="LiveId" clId="{11A847AF-112C-4EE3-8712-4F7503AF8252}" dt="2026-06-11T18:17:28.979" v="10" actId="14100"/>
          <ac:spMkLst>
            <pc:docMk/>
            <pc:sldMk cId="1562521810" sldId="257"/>
            <ac:spMk id="3" creationId="{48D08072-DAF0-493C-9474-362C89D365DC}"/>
          </ac:spMkLst>
        </pc:spChg>
      </pc:sldChg>
      <pc:sldChg chg="modSp mod modTransition">
        <pc:chgData name="Deepika Mathpati" userId="3d35274bb1026449" providerId="LiveId" clId="{11A847AF-112C-4EE3-8712-4F7503AF8252}" dt="2026-06-11T18:21:00.167" v="33"/>
        <pc:sldMkLst>
          <pc:docMk/>
          <pc:sldMk cId="2645142498" sldId="258"/>
        </pc:sldMkLst>
        <pc:spChg chg="mod">
          <ac:chgData name="Deepika Mathpati" userId="3d35274bb1026449" providerId="LiveId" clId="{11A847AF-112C-4EE3-8712-4F7503AF8252}" dt="2026-06-11T18:17:37.019" v="11" actId="1076"/>
          <ac:spMkLst>
            <pc:docMk/>
            <pc:sldMk cId="2645142498" sldId="258"/>
            <ac:spMk id="2" creationId="{B185624A-49C7-04C4-B2AC-DD00121B1879}"/>
          </ac:spMkLst>
        </pc:spChg>
        <pc:spChg chg="mod">
          <ac:chgData name="Deepika Mathpati" userId="3d35274bb1026449" providerId="LiveId" clId="{11A847AF-112C-4EE3-8712-4F7503AF8252}" dt="2026-06-11T18:17:44.765" v="12" actId="14100"/>
          <ac:spMkLst>
            <pc:docMk/>
            <pc:sldMk cId="2645142498" sldId="258"/>
            <ac:spMk id="3" creationId="{9B2EBDEB-48F5-FF66-D017-FAF852ED1561}"/>
          </ac:spMkLst>
        </pc:spChg>
      </pc:sldChg>
      <pc:sldChg chg="modSp mod modTransition">
        <pc:chgData name="Deepika Mathpati" userId="3d35274bb1026449" providerId="LiveId" clId="{11A847AF-112C-4EE3-8712-4F7503AF8252}" dt="2026-06-11T18:21:21.482" v="34"/>
        <pc:sldMkLst>
          <pc:docMk/>
          <pc:sldMk cId="3148323799" sldId="259"/>
        </pc:sldMkLst>
        <pc:spChg chg="mod">
          <ac:chgData name="Deepika Mathpati" userId="3d35274bb1026449" providerId="LiveId" clId="{11A847AF-112C-4EE3-8712-4F7503AF8252}" dt="2026-06-11T18:18:01.207" v="14" actId="1076"/>
          <ac:spMkLst>
            <pc:docMk/>
            <pc:sldMk cId="3148323799" sldId="259"/>
            <ac:spMk id="5" creationId="{61D47DF3-046F-9D4F-70FF-0F921F6E604A}"/>
          </ac:spMkLst>
        </pc:spChg>
      </pc:sldChg>
      <pc:sldChg chg="modTransition">
        <pc:chgData name="Deepika Mathpati" userId="3d35274bb1026449" providerId="LiveId" clId="{11A847AF-112C-4EE3-8712-4F7503AF8252}" dt="2026-06-11T18:21:44.083" v="36"/>
        <pc:sldMkLst>
          <pc:docMk/>
          <pc:sldMk cId="2219963425" sldId="260"/>
        </pc:sldMkLst>
      </pc:sldChg>
      <pc:sldChg chg="modSp mod modTransition">
        <pc:chgData name="Deepika Mathpati" userId="3d35274bb1026449" providerId="LiveId" clId="{11A847AF-112C-4EE3-8712-4F7503AF8252}" dt="2026-06-11T18:21:31.125" v="35"/>
        <pc:sldMkLst>
          <pc:docMk/>
          <pc:sldMk cId="2200189949" sldId="261"/>
        </pc:sldMkLst>
        <pc:spChg chg="mod">
          <ac:chgData name="Deepika Mathpati" userId="3d35274bb1026449" providerId="LiveId" clId="{11A847AF-112C-4EE3-8712-4F7503AF8252}" dt="2026-06-11T18:17:53.190" v="13" actId="1076"/>
          <ac:spMkLst>
            <pc:docMk/>
            <pc:sldMk cId="2200189949" sldId="261"/>
            <ac:spMk id="2" creationId="{4B0C27E2-DF44-27A3-8E54-9507245DCE72}"/>
          </ac:spMkLst>
        </pc:spChg>
      </pc:sldChg>
      <pc:sldChg chg="modTransition">
        <pc:chgData name="Deepika Mathpati" userId="3d35274bb1026449" providerId="LiveId" clId="{11A847AF-112C-4EE3-8712-4F7503AF8252}" dt="2026-06-11T18:21:58.966" v="37"/>
        <pc:sldMkLst>
          <pc:docMk/>
          <pc:sldMk cId="1638086912" sldId="262"/>
        </pc:sldMkLst>
      </pc:sldChg>
      <pc:sldChg chg="modTransition">
        <pc:chgData name="Deepika Mathpati" userId="3d35274bb1026449" providerId="LiveId" clId="{11A847AF-112C-4EE3-8712-4F7503AF8252}" dt="2026-06-11T18:22:03.298" v="38"/>
        <pc:sldMkLst>
          <pc:docMk/>
          <pc:sldMk cId="1489815968" sldId="263"/>
        </pc:sldMkLst>
      </pc:sldChg>
      <pc:sldChg chg="modTransition">
        <pc:chgData name="Deepika Mathpati" userId="3d35274bb1026449" providerId="LiveId" clId="{11A847AF-112C-4EE3-8712-4F7503AF8252}" dt="2026-06-11T18:22:09.128" v="39"/>
        <pc:sldMkLst>
          <pc:docMk/>
          <pc:sldMk cId="1404725003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88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44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24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298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50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81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27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59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04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85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EEFAFF1-9396-4988-B644-26902CC39870}" type="datetimeFigureOut">
              <a:rPr lang="en-IN" smtClean="0"/>
              <a:t>11-06-2026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AC0B49F-5245-444D-8167-DF8B33FE92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4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6A7E-989D-EF22-8C55-5A15CDE0A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DBMS MINI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D2FEB-D90D-463B-9157-0002D84FD3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~Deepika S Mathpati(3PD24CS053)</a:t>
            </a:r>
          </a:p>
          <a:p>
            <a:r>
              <a:rPr lang="en-US" dirty="0"/>
              <a:t>~Anam Fatima(3PD24CS023)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922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4C7A-199D-41F0-E875-161A7F46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0" y="321346"/>
            <a:ext cx="10344477" cy="1074747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8072-DAF0-493C-9474-362C89D3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1338943"/>
            <a:ext cx="10344477" cy="483325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Crime Data Analysis System is a database management application designed to store, manage, and analyze crime-related information efficiently. Law enforcement agencies handle large volumes of crime records, criminal details, case information, and investigation reports. Managing this data manually is difficult and time-consuming.</a:t>
            </a:r>
          </a:p>
          <a:p>
            <a:r>
              <a:rPr lang="en-IN" dirty="0"/>
              <a:t>Using a DBMS, crime-related data can be stored securely, retrieved quickly, and analyzed effectively. The system helps authorities identify crime patterns, monitor criminal activities, and improve decision-making.</a:t>
            </a:r>
          </a:p>
          <a:p>
            <a:r>
              <a:rPr lang="en-IN" b="1" dirty="0"/>
              <a:t>Key Features</a:t>
            </a:r>
            <a:endParaRPr lang="en-IN" dirty="0"/>
          </a:p>
          <a:p>
            <a:r>
              <a:rPr lang="en-IN" dirty="0"/>
              <a:t>Centralized crime database </a:t>
            </a:r>
          </a:p>
          <a:p>
            <a:r>
              <a:rPr lang="en-IN" dirty="0"/>
              <a:t>Criminal record management </a:t>
            </a:r>
          </a:p>
          <a:p>
            <a:r>
              <a:rPr lang="en-IN" dirty="0"/>
              <a:t>Case tracking </a:t>
            </a:r>
          </a:p>
          <a:p>
            <a:r>
              <a:rPr lang="en-IN" dirty="0"/>
              <a:t>Crime pattern analysis </a:t>
            </a:r>
          </a:p>
          <a:p>
            <a:r>
              <a:rPr lang="en-IN" dirty="0"/>
              <a:t>Quick data retrieval </a:t>
            </a:r>
          </a:p>
          <a:p>
            <a:r>
              <a:rPr lang="en-IN" dirty="0"/>
              <a:t>Improved public safety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52181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624A-49C7-04C4-B2AC-DD00121B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921" y="334736"/>
            <a:ext cx="10222012" cy="935954"/>
          </a:xfrm>
        </p:spPr>
        <p:txBody>
          <a:bodyPr/>
          <a:lstStyle/>
          <a:p>
            <a:r>
              <a:rPr lang="en-IN" dirty="0"/>
              <a:t>Crime Data Analysis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BDEB-48F5-FF66-D017-FAF852ED1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921" y="1270690"/>
            <a:ext cx="10287327" cy="5252574"/>
          </a:xfrm>
        </p:spPr>
        <p:txBody>
          <a:bodyPr>
            <a:normAutofit/>
          </a:bodyPr>
          <a:lstStyle/>
          <a:p>
            <a:r>
              <a:rPr lang="en-IN" dirty="0"/>
              <a:t>The proposed system is designed to maintain crime records and provide meaningful analysis of crime data. It stores information about crimes, criminals, police officers, locations, and case status in a structured database.</a:t>
            </a:r>
          </a:p>
          <a:p>
            <a:r>
              <a:rPr lang="en-IN" dirty="0"/>
              <a:t>Instead of maintaining paper records, the system allows police departments to access information instantly. Crime statistics can be generated using SQL queries to identify high-crime areas, common crime types, and solved or unsolved cases.</a:t>
            </a:r>
          </a:p>
          <a:p>
            <a:r>
              <a:rPr lang="en-IN" b="1" dirty="0"/>
              <a:t>Objectives</a:t>
            </a:r>
            <a:endParaRPr lang="en-IN" dirty="0"/>
          </a:p>
          <a:p>
            <a:r>
              <a:rPr lang="en-IN" dirty="0"/>
              <a:t>Store crime information efficiently </a:t>
            </a:r>
          </a:p>
          <a:p>
            <a:r>
              <a:rPr lang="en-IN" dirty="0"/>
              <a:t>Maintain criminal records </a:t>
            </a:r>
          </a:p>
          <a:p>
            <a:r>
              <a:rPr lang="en-IN" dirty="0"/>
              <a:t>Track investigation status </a:t>
            </a:r>
          </a:p>
          <a:p>
            <a:r>
              <a:rPr lang="en-IN" dirty="0"/>
              <a:t>Analyze crime trends </a:t>
            </a:r>
          </a:p>
          <a:p>
            <a:r>
              <a:rPr lang="en-IN" dirty="0"/>
              <a:t>Generate statistical reports </a:t>
            </a:r>
          </a:p>
          <a:p>
            <a:r>
              <a:rPr lang="en-IN" dirty="0"/>
              <a:t>Support decision-making for law enforcement</a:t>
            </a:r>
          </a:p>
        </p:txBody>
      </p:sp>
    </p:spTree>
    <p:extLst>
      <p:ext uri="{BB962C8B-B14F-4D97-AF65-F5344CB8AC3E}">
        <p14:creationId xmlns:p14="http://schemas.microsoft.com/office/powerpoint/2010/main" val="26451424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D90B-3D45-A9D8-87FA-796C7AA35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19876"/>
            <a:ext cx="10058400" cy="731847"/>
          </a:xfrm>
        </p:spPr>
        <p:txBody>
          <a:bodyPr>
            <a:normAutofit fontScale="90000"/>
          </a:bodyPr>
          <a:lstStyle/>
          <a:p>
            <a:r>
              <a:rPr lang="en-IN" dirty="0"/>
              <a:t>SQL Code for table creation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3B81E-E409-5995-6F6E-A0C8B576C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5528" y="1240971"/>
            <a:ext cx="5029200" cy="4931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CREATE DATABASE CrimeDB;</a:t>
            </a:r>
            <a:br>
              <a:rPr lang="en-IN" sz="1600" dirty="0"/>
            </a:br>
            <a:r>
              <a:rPr lang="en-IN" sz="1600" dirty="0"/>
              <a:t>USE CrimeDB;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CREATE TABLE Criminal(</a:t>
            </a:r>
            <a:br>
              <a:rPr lang="en-IN" sz="1600" dirty="0"/>
            </a:br>
            <a:r>
              <a:rPr lang="en-IN" sz="1600" dirty="0"/>
              <a:t>Criminal_ID INT PRIMARY KEY,</a:t>
            </a:r>
            <a:br>
              <a:rPr lang="en-IN" sz="1600" dirty="0"/>
            </a:br>
            <a:r>
              <a:rPr lang="en-IN" sz="1600" dirty="0"/>
              <a:t>Name VARCHAR(50),</a:t>
            </a:r>
            <a:br>
              <a:rPr lang="en-IN" sz="1600" dirty="0"/>
            </a:br>
            <a:r>
              <a:rPr lang="en-IN" sz="1600" dirty="0"/>
              <a:t>Age INT,</a:t>
            </a:r>
            <a:br>
              <a:rPr lang="en-IN" sz="1600" dirty="0"/>
            </a:br>
            <a:r>
              <a:rPr lang="en-IN" sz="1600" dirty="0"/>
              <a:t>Gender VARCHAR(10)</a:t>
            </a:r>
            <a:br>
              <a:rPr lang="en-IN" sz="1600" dirty="0"/>
            </a:br>
            <a:r>
              <a:rPr lang="en-IN" sz="1600" dirty="0"/>
              <a:t>);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CREATE TABLE Location(</a:t>
            </a:r>
            <a:br>
              <a:rPr lang="en-IN" sz="1600" dirty="0"/>
            </a:br>
            <a:r>
              <a:rPr lang="en-IN" sz="1600" dirty="0"/>
              <a:t>Location_ID INT PRIMARY KEY,</a:t>
            </a:r>
            <a:br>
              <a:rPr lang="en-IN" sz="1600" dirty="0"/>
            </a:br>
            <a:r>
              <a:rPr lang="en-IN" sz="1600" dirty="0"/>
              <a:t>Area VARCHAR(50),</a:t>
            </a:r>
            <a:br>
              <a:rPr lang="en-IN" sz="1600" dirty="0"/>
            </a:br>
            <a:r>
              <a:rPr lang="en-IN" sz="1600" dirty="0"/>
              <a:t>City VARCHAR(50)</a:t>
            </a:r>
            <a:br>
              <a:rPr lang="en-IN" sz="1600" dirty="0"/>
            </a:br>
            <a:r>
              <a:rPr lang="en-IN" sz="1600" dirty="0"/>
              <a:t>);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CREATE TABLE Police(</a:t>
            </a:r>
            <a:br>
              <a:rPr lang="en-IN" sz="1600" dirty="0"/>
            </a:br>
            <a:r>
              <a:rPr lang="en-IN" sz="1600" dirty="0"/>
              <a:t>Officer_ID INT PRIMARY KEY,</a:t>
            </a:r>
            <a:br>
              <a:rPr lang="en-IN" sz="1600" dirty="0"/>
            </a:br>
            <a:r>
              <a:rPr lang="en-IN" sz="1600" dirty="0"/>
              <a:t>Officer_Name VARCHAR(50),</a:t>
            </a:r>
            <a:br>
              <a:rPr lang="en-IN" sz="1600" dirty="0"/>
            </a:br>
            <a:r>
              <a:rPr lang="en-IN" sz="1600" dirty="0"/>
              <a:t>Station VARCHAR(50)</a:t>
            </a:r>
            <a:br>
              <a:rPr lang="en-IN" sz="1600" dirty="0"/>
            </a:br>
            <a:r>
              <a:rPr lang="en-IN" sz="1600" dirty="0"/>
              <a:t>);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D47DF3-046F-9D4F-70FF-0F921F6E6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435" y="1126670"/>
            <a:ext cx="5151011" cy="5159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CREATE TABLE Crime(</a:t>
            </a:r>
            <a:br>
              <a:rPr lang="en-IN" sz="1600" dirty="0"/>
            </a:br>
            <a:r>
              <a:rPr lang="en-IN" sz="1600" dirty="0"/>
              <a:t>Crime_ID INT PRIMARY KEY,</a:t>
            </a:r>
            <a:br>
              <a:rPr lang="en-IN" sz="1600" dirty="0"/>
            </a:br>
            <a:r>
              <a:rPr lang="en-IN" sz="1600" dirty="0"/>
              <a:t>Crime_Type VARCHAR(50),</a:t>
            </a:r>
            <a:br>
              <a:rPr lang="en-IN" sz="1600" dirty="0"/>
            </a:br>
            <a:r>
              <a:rPr lang="en-IN" sz="1600" dirty="0"/>
              <a:t>Crime_Date DATE,</a:t>
            </a:r>
            <a:br>
              <a:rPr lang="en-IN" sz="1600" dirty="0"/>
            </a:br>
            <a:r>
              <a:rPr lang="en-IN" sz="1600" dirty="0"/>
              <a:t>Crime_Time TIME,</a:t>
            </a:r>
            <a:br>
              <a:rPr lang="en-IN" sz="1600" dirty="0"/>
            </a:br>
            <a:r>
              <a:rPr lang="en-IN" sz="1600" dirty="0"/>
              <a:t>Location_ID INT,</a:t>
            </a:r>
            <a:br>
              <a:rPr lang="en-IN" sz="1600" dirty="0"/>
            </a:br>
            <a:r>
              <a:rPr lang="en-IN" sz="1600" dirty="0"/>
              <a:t>Criminal_ID INT,</a:t>
            </a:r>
            <a:br>
              <a:rPr lang="en-IN" sz="1600" dirty="0"/>
            </a:br>
            <a:r>
              <a:rPr lang="en-IN" sz="1600" dirty="0"/>
              <a:t>FOREIGN KEY(Location_ID) REFERENCES Location(Location_ID),</a:t>
            </a:r>
            <a:br>
              <a:rPr lang="en-IN" sz="1600" dirty="0"/>
            </a:br>
            <a:r>
              <a:rPr lang="en-IN" sz="1600" dirty="0"/>
              <a:t>FOREIGN KEY(Criminal_ID) REFERENCES Criminal(Criminal_ID)</a:t>
            </a:r>
            <a:br>
              <a:rPr lang="en-IN" sz="1600" dirty="0"/>
            </a:br>
            <a:r>
              <a:rPr lang="en-IN" sz="1600" dirty="0"/>
              <a:t>);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CREATE TABLE Cases(</a:t>
            </a:r>
            <a:br>
              <a:rPr lang="en-IN" sz="1600" dirty="0"/>
            </a:br>
            <a:r>
              <a:rPr lang="en-IN" sz="1600" dirty="0"/>
              <a:t>Case_ID INT PRIMARY KEY,</a:t>
            </a:r>
            <a:br>
              <a:rPr lang="en-IN" sz="1600" dirty="0"/>
            </a:br>
            <a:r>
              <a:rPr lang="en-IN" sz="1600" dirty="0"/>
              <a:t>Status VARCHAR(30),</a:t>
            </a:r>
            <a:br>
              <a:rPr lang="en-IN" sz="1600" dirty="0"/>
            </a:br>
            <a:r>
              <a:rPr lang="en-IN" sz="1600" dirty="0"/>
              <a:t>Crime_ID INT,</a:t>
            </a:r>
            <a:br>
              <a:rPr lang="en-IN" sz="1600" dirty="0"/>
            </a:br>
            <a:r>
              <a:rPr lang="en-IN" sz="1600" dirty="0"/>
              <a:t>Officer_ID INT,</a:t>
            </a:r>
            <a:br>
              <a:rPr lang="en-IN" sz="1600" dirty="0"/>
            </a:br>
            <a:r>
              <a:rPr lang="en-IN" sz="1600" dirty="0"/>
              <a:t>FOREIGN KEY(Crime_ID) REFERENCES Crime(Crime_ID),</a:t>
            </a:r>
            <a:br>
              <a:rPr lang="en-IN" sz="1600" dirty="0"/>
            </a:br>
            <a:r>
              <a:rPr lang="en-IN" sz="1600" dirty="0"/>
              <a:t>FOREIGN KEY(Officer_ID) REFERENCES Police(Officer_ID)</a:t>
            </a:r>
            <a:br>
              <a:rPr lang="en-IN" sz="1600" dirty="0"/>
            </a:br>
            <a:r>
              <a:rPr lang="en-IN" sz="1600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32379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27E2-DF44-27A3-8E54-9507245D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405601"/>
            <a:ext cx="10058400" cy="691025"/>
          </a:xfrm>
        </p:spPr>
        <p:txBody>
          <a:bodyPr>
            <a:normAutofit fontScale="90000"/>
          </a:bodyPr>
          <a:lstStyle/>
          <a:p>
            <a:r>
              <a:rPr lang="en-US" dirty="0"/>
              <a:t>SQL CODE FOR VALUE INSERTION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B2E5-9C8B-B20C-2B29-0E11A88D4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5528" y="1338943"/>
            <a:ext cx="5029200" cy="4833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INSERT INTO Criminal VALUES</a:t>
            </a:r>
          </a:p>
          <a:p>
            <a:pPr marL="0" indent="0">
              <a:buNone/>
            </a:pPr>
            <a:r>
              <a:rPr lang="en-IN" sz="1600" dirty="0"/>
              <a:t>(1,'Ramesh',30,'Male'),</a:t>
            </a:r>
          </a:p>
          <a:p>
            <a:pPr marL="0" indent="0">
              <a:buNone/>
            </a:pPr>
            <a:r>
              <a:rPr lang="en-IN" sz="1600" dirty="0"/>
              <a:t>(2,'Suresh',25,'Male'),</a:t>
            </a:r>
          </a:p>
          <a:p>
            <a:pPr marL="0" indent="0">
              <a:buNone/>
            </a:pPr>
            <a:r>
              <a:rPr lang="en-IN" sz="1600" dirty="0"/>
              <a:t>(3,'Priya',28,'Female');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INSERT INTO Location VALUES</a:t>
            </a:r>
          </a:p>
          <a:p>
            <a:pPr marL="0" indent="0">
              <a:buNone/>
            </a:pPr>
            <a:r>
              <a:rPr lang="en-IN" sz="1600" dirty="0"/>
              <a:t>(101,'Whitefield','Bangalore'),</a:t>
            </a:r>
          </a:p>
          <a:p>
            <a:pPr marL="0" indent="0">
              <a:buNone/>
            </a:pPr>
            <a:r>
              <a:rPr lang="en-IN" sz="1600" dirty="0"/>
              <a:t>(102,'Electronic City','Bangalore'),</a:t>
            </a:r>
          </a:p>
          <a:p>
            <a:pPr marL="0" indent="0">
              <a:buNone/>
            </a:pPr>
            <a:r>
              <a:rPr lang="en-IN" sz="1600" dirty="0"/>
              <a:t>(103,'Marathahalli','Bangalore');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22B42-A9EE-B2BC-A4F4-AEE04E67A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4036" y="1240971"/>
            <a:ext cx="4955068" cy="4931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INSERT INTO Police VALUES</a:t>
            </a:r>
          </a:p>
          <a:p>
            <a:pPr marL="0" indent="0">
              <a:buNone/>
            </a:pPr>
            <a:r>
              <a:rPr lang="en-IN" sz="1600" dirty="0"/>
              <a:t>(201,'Raj Kumar','Whitefield Station'),</a:t>
            </a:r>
          </a:p>
          <a:p>
            <a:pPr marL="0" indent="0">
              <a:buNone/>
            </a:pPr>
            <a:r>
              <a:rPr lang="en-IN" sz="1600" dirty="0"/>
              <a:t>(202,'Anita Rao','Electronic City Station');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INSERT INTO Crime VALUES</a:t>
            </a:r>
          </a:p>
          <a:p>
            <a:pPr marL="0" indent="0">
              <a:buNone/>
            </a:pPr>
            <a:r>
              <a:rPr lang="en-IN" sz="1600" dirty="0"/>
              <a:t>(1001,'Theft','2026-01-10','10:30:00',101,1),</a:t>
            </a:r>
          </a:p>
          <a:p>
            <a:pPr marL="0" indent="0">
              <a:buNone/>
            </a:pPr>
            <a:r>
              <a:rPr lang="en-IN" sz="1600" dirty="0"/>
              <a:t>(1002,'Robbery','2026-01-12','18:00:00',102,2),</a:t>
            </a:r>
          </a:p>
          <a:p>
            <a:pPr marL="0" indent="0">
              <a:buNone/>
            </a:pPr>
            <a:r>
              <a:rPr lang="en-IN" sz="1600" dirty="0"/>
              <a:t>(1003,'Fraud','2026-01-15','12:15:00',103,3);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INSERT INTO Cases VALUES</a:t>
            </a:r>
          </a:p>
          <a:p>
            <a:pPr marL="0" indent="0">
              <a:buNone/>
            </a:pPr>
            <a:r>
              <a:rPr lang="en-IN" sz="1600" dirty="0"/>
              <a:t>(301,'Solved',1001,201),</a:t>
            </a:r>
          </a:p>
          <a:p>
            <a:pPr marL="0" indent="0">
              <a:buNone/>
            </a:pPr>
            <a:r>
              <a:rPr lang="en-IN" sz="1600" dirty="0"/>
              <a:t>(302,'Pending',1002,202),</a:t>
            </a:r>
          </a:p>
          <a:p>
            <a:pPr marL="0" indent="0">
              <a:buNone/>
            </a:pPr>
            <a:r>
              <a:rPr lang="en-IN" sz="1600" dirty="0"/>
              <a:t>(303,'Under Investigation',1003,201);</a:t>
            </a:r>
          </a:p>
        </p:txBody>
      </p:sp>
    </p:spTree>
    <p:extLst>
      <p:ext uri="{BB962C8B-B14F-4D97-AF65-F5344CB8AC3E}">
        <p14:creationId xmlns:p14="http://schemas.microsoft.com/office/powerpoint/2010/main" val="220018994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C87C-F54F-D45A-FC0D-4113C332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472" y="484632"/>
            <a:ext cx="10458776" cy="674697"/>
          </a:xfrm>
        </p:spPr>
        <p:txBody>
          <a:bodyPr>
            <a:normAutofit fontScale="90000"/>
          </a:bodyPr>
          <a:lstStyle/>
          <a:p>
            <a:r>
              <a:rPr lang="en-IN" dirty="0"/>
              <a:t>Queries and 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8CFCF-CA7C-4F97-4047-3EE398B4B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9472" y="1445079"/>
            <a:ext cx="4898572" cy="472712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QUERY 1</a:t>
            </a:r>
          </a:p>
          <a:p>
            <a:pPr marL="0" indent="0">
              <a:buNone/>
            </a:pPr>
            <a:r>
              <a:rPr lang="en-US" sz="1400" dirty="0"/>
              <a:t>SELECT Crime_Type, COUNT(*) AS Total_Cases</a:t>
            </a:r>
          </a:p>
          <a:p>
            <a:pPr marL="0" indent="0">
              <a:buNone/>
            </a:pPr>
            <a:r>
              <a:rPr lang="en-US" sz="1400" dirty="0"/>
              <a:t>FROM Crime</a:t>
            </a:r>
          </a:p>
          <a:p>
            <a:pPr marL="0" indent="0">
              <a:buNone/>
            </a:pPr>
            <a:r>
              <a:rPr lang="en-US" sz="1400" dirty="0"/>
              <a:t>GROUP BY Crime_Type;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4B8043-D85B-7B03-6F97-269C799F7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971" y="1445079"/>
            <a:ext cx="5649686" cy="472712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QUERY 2</a:t>
            </a:r>
          </a:p>
          <a:p>
            <a:pPr marL="0" indent="0">
              <a:buNone/>
            </a:pPr>
            <a:r>
              <a:rPr lang="en-US" sz="1200" dirty="0"/>
              <a:t>SELECT Area, COUNT(*) AS Crime_Count</a:t>
            </a:r>
          </a:p>
          <a:p>
            <a:pPr marL="0" indent="0">
              <a:buNone/>
            </a:pPr>
            <a:r>
              <a:rPr lang="en-US" sz="1200" dirty="0"/>
              <a:t>FROM Crime C</a:t>
            </a:r>
          </a:p>
          <a:p>
            <a:pPr marL="0" indent="0">
              <a:buNone/>
            </a:pPr>
            <a:r>
              <a:rPr lang="en-US" sz="1200" dirty="0"/>
              <a:t>JOIN Location L</a:t>
            </a:r>
          </a:p>
          <a:p>
            <a:pPr marL="0" indent="0">
              <a:buNone/>
            </a:pPr>
            <a:r>
              <a:rPr lang="en-US" sz="1200" dirty="0"/>
              <a:t>ON C.Location_ID=L.Location_ID</a:t>
            </a:r>
          </a:p>
          <a:p>
            <a:pPr marL="0" indent="0">
              <a:buNone/>
            </a:pPr>
            <a:r>
              <a:rPr lang="en-US" sz="1200" dirty="0"/>
              <a:t>GROUP BY Area;</a:t>
            </a:r>
            <a:endParaRPr lang="en-IN" sz="1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265F97-4327-E38B-12EC-1E1729357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45952"/>
              </p:ext>
            </p:extLst>
          </p:nvPr>
        </p:nvGraphicFramePr>
        <p:xfrm>
          <a:off x="892629" y="3706586"/>
          <a:ext cx="4054928" cy="144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464">
                  <a:extLst>
                    <a:ext uri="{9D8B030D-6E8A-4147-A177-3AD203B41FA5}">
                      <a16:colId xmlns:a16="http://schemas.microsoft.com/office/drawing/2014/main" val="3185481412"/>
                    </a:ext>
                  </a:extLst>
                </a:gridCol>
                <a:gridCol w="2027464">
                  <a:extLst>
                    <a:ext uri="{9D8B030D-6E8A-4147-A177-3AD203B41FA5}">
                      <a16:colId xmlns:a16="http://schemas.microsoft.com/office/drawing/2014/main" val="368524022"/>
                    </a:ext>
                  </a:extLst>
                </a:gridCol>
              </a:tblGrid>
              <a:tr h="3440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Crime_Type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Total_Cases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755380"/>
                  </a:ext>
                </a:extLst>
              </a:tr>
              <a:tr h="344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28419"/>
                  </a:ext>
                </a:extLst>
              </a:tr>
              <a:tr h="344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Robbery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104200"/>
                  </a:ext>
                </a:extLst>
              </a:tr>
              <a:tr h="344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</a:t>
                      </a:r>
                      <a:r>
                        <a:rPr lang="en-IN" dirty="0"/>
                        <a:t>raud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8811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E50E22-E58D-6C41-0C51-25C75AB08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06576"/>
              </p:ext>
            </p:extLst>
          </p:nvPr>
        </p:nvGraphicFramePr>
        <p:xfrm>
          <a:off x="6096000" y="3706586"/>
          <a:ext cx="4847772" cy="1442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886">
                  <a:extLst>
                    <a:ext uri="{9D8B030D-6E8A-4147-A177-3AD203B41FA5}">
                      <a16:colId xmlns:a16="http://schemas.microsoft.com/office/drawing/2014/main" val="2376201719"/>
                    </a:ext>
                  </a:extLst>
                </a:gridCol>
                <a:gridCol w="2423886">
                  <a:extLst>
                    <a:ext uri="{9D8B030D-6E8A-4147-A177-3AD203B41FA5}">
                      <a16:colId xmlns:a16="http://schemas.microsoft.com/office/drawing/2014/main" val="2419176108"/>
                    </a:ext>
                  </a:extLst>
                </a:gridCol>
              </a:tblGrid>
              <a:tr h="344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Crime_Count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854986"/>
                  </a:ext>
                </a:extLst>
              </a:tr>
              <a:tr h="344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Whitefield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93462"/>
                  </a:ext>
                </a:extLst>
              </a:tr>
              <a:tr h="344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Electronic 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891769"/>
                  </a:ext>
                </a:extLst>
              </a:tr>
              <a:tr h="344941">
                <a:tc>
                  <a:txBody>
                    <a:bodyPr/>
                    <a:lstStyle/>
                    <a:p>
                      <a:r>
                        <a:rPr lang="en-IN" dirty="0"/>
                        <a:t>Marathahalli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13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96342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F6A8D-BD10-F83B-5560-985D5F318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8691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64EDA4-89AD-720E-CA62-E3AEC04BD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1596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550E-A0EA-D17D-8469-33CA6329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41" y="329510"/>
            <a:ext cx="10058400" cy="1123733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8584E-69F0-E23F-FFB4-68F0E40C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41" y="1453243"/>
            <a:ext cx="10491107" cy="4718957"/>
          </a:xfrm>
        </p:spPr>
        <p:txBody>
          <a:bodyPr/>
          <a:lstStyle/>
          <a:p>
            <a:r>
              <a:rPr lang="en-IN" dirty="0"/>
              <a:t>The Crime Data Analysis System demonstrates how a Database Management System can be used to efficiently store, organize, and analyze crime-related information. The system improves record management, supports investigation processes, and helps identify crime patterns through SQL-based analysis.</a:t>
            </a:r>
          </a:p>
          <a:p>
            <a:r>
              <a:rPr lang="en-IN" b="1" dirty="0"/>
              <a:t>Future Scope</a:t>
            </a:r>
            <a:endParaRPr lang="en-IN" dirty="0"/>
          </a:p>
          <a:p>
            <a:r>
              <a:rPr lang="en-IN" dirty="0"/>
              <a:t>Crime prediction using Machine Learning </a:t>
            </a:r>
          </a:p>
          <a:p>
            <a:r>
              <a:rPr lang="en-IN" dirty="0"/>
              <a:t>Real-time crime monitoring </a:t>
            </a:r>
          </a:p>
          <a:p>
            <a:r>
              <a:rPr lang="en-IN" dirty="0"/>
              <a:t>GIS-based crime mapping </a:t>
            </a:r>
          </a:p>
          <a:p>
            <a:r>
              <a:rPr lang="en-IN" dirty="0"/>
              <a:t>Mobile application integration </a:t>
            </a:r>
          </a:p>
          <a:p>
            <a:r>
              <a:rPr lang="en-IN" dirty="0"/>
              <a:t>Automated alert generation </a:t>
            </a:r>
          </a:p>
          <a:p>
            <a:pPr marL="0" indent="0">
              <a:buNone/>
            </a:pPr>
            <a:r>
              <a:rPr lang="en-IN" b="1" dirty="0"/>
              <a:t>                                                                   </a:t>
            </a:r>
          </a:p>
          <a:p>
            <a:pPr marL="0" indent="0">
              <a:buNone/>
            </a:pPr>
            <a:r>
              <a:rPr lang="en-IN" b="1" dirty="0"/>
              <a:t>                                                                     Thank You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725003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98</TotalTime>
  <Words>764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DBMS MINI PROJECT</vt:lpstr>
      <vt:lpstr>introduction</vt:lpstr>
      <vt:lpstr>Crime Data Analysis System</vt:lpstr>
      <vt:lpstr>SQL Code for table creation</vt:lpstr>
      <vt:lpstr>SQL CODE FOR VALUE INSERTION</vt:lpstr>
      <vt:lpstr>Queries and Output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Mathpati</dc:creator>
  <cp:lastModifiedBy>Deepika Mathpati</cp:lastModifiedBy>
  <cp:revision>2</cp:revision>
  <dcterms:created xsi:type="dcterms:W3CDTF">2026-06-10T01:35:18Z</dcterms:created>
  <dcterms:modified xsi:type="dcterms:W3CDTF">2026-06-11T18:22:14Z</dcterms:modified>
</cp:coreProperties>
</file>